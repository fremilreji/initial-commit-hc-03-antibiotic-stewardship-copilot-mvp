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Heavy" charset="1" panose="00000A00000000000000"/>
      <p:regular r:id="rId18"/>
    </p:embeddedFont>
    <p:embeddedFont>
      <p:font typeface="Open Sauce Bold" charset="1" panose="00000800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Light" charset="1" panose="000004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19242"/>
            <a:ext cx="16495569" cy="602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9"/>
              </a:lnSpc>
            </a:pPr>
            <a:r>
              <a:rPr lang="en-US" b="true" sz="11456" spc="-538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attend.to</a:t>
            </a:r>
          </a:p>
          <a:p>
            <a:pPr algn="ctr">
              <a:lnSpc>
                <a:spcPts val="16039"/>
              </a:lnSpc>
            </a:pPr>
            <a:r>
              <a:rPr lang="en-US" b="true" sz="11456" spc="-538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(Antibiotic Stewardship Copilot)</a:t>
            </a:r>
          </a:p>
        </p:txBody>
      </p:sp>
      <p:sp>
        <p:nvSpPr>
          <p:cNvPr name="AutoShape 6" id="6"/>
          <p:cNvSpPr/>
          <p:nvPr/>
        </p:nvSpPr>
        <p:spPr>
          <a:xfrm>
            <a:off x="1045163" y="1480091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28700" y="8740053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3327" y="-1437860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95275"/>
            <a:ext cx="10857470" cy="30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4"/>
              </a:lnSpc>
            </a:pPr>
            <a:r>
              <a:rPr lang="en-US" sz="12196" spc="-57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Problem Understanding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9132" y="3995329"/>
            <a:ext cx="15793617" cy="431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3598" spc="-169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Statement: HC-03 — attend.to (Antibiotic Stewardship Copilot)</a:t>
            </a:r>
          </a:p>
          <a:p>
            <a:pPr algn="l">
              <a:lnSpc>
                <a:spcPts val="3382"/>
              </a:lnSpc>
            </a:pPr>
          </a:p>
          <a:p>
            <a:pPr algn="l" marL="776881" indent="-388440" lvl="1">
              <a:lnSpc>
                <a:spcPts val="3382"/>
              </a:lnSpc>
              <a:buFont typeface="Arial"/>
              <a:buChar char="•"/>
            </a:pPr>
            <a:r>
              <a:rPr lang="en-US" sz="3598" spc="-169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AMR is a global crisis—associated with 4.95 million deaths in 2019. Inappropriate prescribing is a leading cause.</a:t>
            </a:r>
          </a:p>
          <a:p>
            <a:pPr algn="l">
              <a:lnSpc>
                <a:spcPts val="3382"/>
              </a:lnSpc>
            </a:pPr>
          </a:p>
          <a:p>
            <a:pPr algn="l" marL="776881" indent="-388440" lvl="1">
              <a:lnSpc>
                <a:spcPts val="3382"/>
              </a:lnSpc>
              <a:buFont typeface="Arial"/>
              <a:buChar char="•"/>
            </a:pPr>
            <a:r>
              <a:rPr lang="en-US" sz="3598" spc="-169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Handwritten antibiotic prescriptions are difficult to review consistently.</a:t>
            </a:r>
          </a:p>
          <a:p>
            <a:pPr algn="l">
              <a:lnSpc>
                <a:spcPts val="3382"/>
              </a:lnSpc>
            </a:pPr>
          </a:p>
          <a:p>
            <a:pPr algn="l" marL="776881" indent="-388440" lvl="1">
              <a:lnSpc>
                <a:spcPts val="3382"/>
              </a:lnSpc>
              <a:buFont typeface="Arial"/>
              <a:buChar char="•"/>
            </a:pPr>
            <a:r>
              <a:rPr lang="en-US" sz="3598" spc="-169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Pharmacists need support identifying potential stewardship issues using clinical guidelines and resistance data.</a:t>
            </a:r>
          </a:p>
          <a:p>
            <a:pPr algn="l">
              <a:lnSpc>
                <a:spcPts val="338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700000">
            <a:off x="-2109444" y="5046072"/>
            <a:ext cx="9290530" cy="6858100"/>
          </a:xfrm>
          <a:custGeom>
            <a:avLst/>
            <a:gdLst/>
            <a:ahLst/>
            <a:cxnLst/>
            <a:rect r="r" b="b" t="t" l="l"/>
            <a:pathLst>
              <a:path h="6858100" w="9290530">
                <a:moveTo>
                  <a:pt x="9290530" y="0"/>
                </a:moveTo>
                <a:lnTo>
                  <a:pt x="0" y="0"/>
                </a:lnTo>
                <a:lnTo>
                  <a:pt x="0" y="6858101"/>
                </a:lnTo>
                <a:lnTo>
                  <a:pt x="9290530" y="6858101"/>
                </a:lnTo>
                <a:lnTo>
                  <a:pt x="929053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3611" y="533527"/>
            <a:ext cx="13237790" cy="12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2"/>
              </a:lnSpc>
            </a:pPr>
            <a:r>
              <a:rPr lang="en-US" sz="9800" spc="-460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EXISTING SOLUTIONS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45113" y="3627308"/>
            <a:ext cx="4305509" cy="60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025" spc="-189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OUR 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7911" y="2039911"/>
            <a:ext cx="7477904" cy="249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582" indent="-385291" lvl="1">
              <a:lnSpc>
                <a:spcPts val="4996"/>
              </a:lnSpc>
              <a:buFont typeface="Arial"/>
              <a:buChar char="•"/>
            </a:pPr>
            <a:r>
              <a:rPr lang="en-US" sz="3569" spc="-16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Manual pharmacist review</a:t>
            </a:r>
          </a:p>
          <a:p>
            <a:pPr algn="l" marL="770582" indent="-385291" lvl="1">
              <a:lnSpc>
                <a:spcPts val="4996"/>
              </a:lnSpc>
              <a:buFont typeface="Arial"/>
              <a:buChar char="•"/>
            </a:pPr>
            <a:r>
              <a:rPr lang="en-US" sz="3569" spc="-16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Hospital treatment guidelines</a:t>
            </a:r>
          </a:p>
          <a:p>
            <a:pPr algn="l" marL="770582" indent="-385291" lvl="1">
              <a:lnSpc>
                <a:spcPts val="4996"/>
              </a:lnSpc>
              <a:buFont typeface="Arial"/>
              <a:buChar char="•"/>
            </a:pPr>
            <a:r>
              <a:rPr lang="en-US" sz="3569" spc="-16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EHR systems and antibiograms</a:t>
            </a:r>
          </a:p>
          <a:p>
            <a:pPr algn="l" marL="770582" indent="-385291" lvl="1">
              <a:lnSpc>
                <a:spcPts val="4996"/>
              </a:lnSpc>
              <a:buFont typeface="Arial"/>
              <a:buChar char="•"/>
            </a:pPr>
            <a:r>
              <a:rPr lang="en-US" sz="3569" spc="-16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Conventional OCR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45113" y="4473380"/>
            <a:ext cx="5833716" cy="177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405" spc="-160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Combine OCR, clinical rules, resistance data, and pharmacist oversight.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611" y="5198128"/>
            <a:ext cx="9170843" cy="12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2"/>
              </a:lnSpc>
            </a:pPr>
            <a:r>
              <a:rPr lang="en-US" sz="9800" spc="-460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PROBLEM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323" y="6936161"/>
            <a:ext cx="9131554" cy="249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582" indent="-385291" lvl="1">
              <a:lnSpc>
                <a:spcPts val="4996"/>
              </a:lnSpc>
              <a:buFont typeface="Arial"/>
              <a:buChar char="•"/>
            </a:pPr>
            <a:r>
              <a:rPr lang="en-US" sz="3569" spc="-16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Slow manual workflows</a:t>
            </a:r>
          </a:p>
          <a:p>
            <a:pPr algn="l" marL="770582" indent="-385291" lvl="1">
              <a:lnSpc>
                <a:spcPts val="4996"/>
              </a:lnSpc>
              <a:buFont typeface="Arial"/>
              <a:buChar char="•"/>
            </a:pPr>
            <a:r>
              <a:rPr lang="en-US" sz="3569" spc="-16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Poor handwriting recognition</a:t>
            </a:r>
          </a:p>
          <a:p>
            <a:pPr algn="l" marL="770582" indent="-385291" lvl="1">
              <a:lnSpc>
                <a:spcPts val="4996"/>
              </a:lnSpc>
              <a:buFont typeface="Arial"/>
              <a:buChar char="•"/>
            </a:pPr>
            <a:r>
              <a:rPr lang="en-US" sz="3569" spc="-16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Limited auditability in LLM-only systems</a:t>
            </a:r>
          </a:p>
          <a:p>
            <a:pPr algn="l" marL="770582" indent="-385291" lvl="1">
              <a:lnSpc>
                <a:spcPts val="4996"/>
              </a:lnSpc>
              <a:buFont typeface="Arial"/>
              <a:buChar char="•"/>
            </a:pPr>
            <a:r>
              <a:rPr lang="en-US" sz="3569" spc="-16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Disconnected clinical and resistance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7090" y="2231409"/>
            <a:ext cx="16714740" cy="10818995"/>
          </a:xfrm>
          <a:custGeom>
            <a:avLst/>
            <a:gdLst/>
            <a:ahLst/>
            <a:cxnLst/>
            <a:rect r="r" b="b" t="t" l="l"/>
            <a:pathLst>
              <a:path h="10818995" w="16714740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57770"/>
            <a:ext cx="16230600" cy="140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7"/>
              </a:lnSpc>
            </a:pPr>
            <a:r>
              <a:rPr lang="en-US" sz="10965" spc="-515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PROPOSED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6810" y="2861612"/>
            <a:ext cx="13775386" cy="680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 AI-assisted system that helps pharmacists review antibiotic prescriptions.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Extracts handwritten prescriptions using Gemini Vision.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Converts brand names into generic antibiotics.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Checks prescriptions using deterministic clinical rules.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Uses WHO AWaRe classifications and resistance benchmarks.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Flags potential risks and suggests review options.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Clinical Knowledge Sources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ICMR Antimicrobial Guidelines 2024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b="true" sz="3786" spc="-177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Local resistance benchmarks and configured clinical rules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08583" y="6388664"/>
            <a:ext cx="16714740" cy="10818995"/>
          </a:xfrm>
          <a:custGeom>
            <a:avLst/>
            <a:gdLst/>
            <a:ahLst/>
            <a:cxnLst/>
            <a:rect r="r" b="b" t="t" l="l"/>
            <a:pathLst>
              <a:path h="10818995" w="16714740">
                <a:moveTo>
                  <a:pt x="0" y="0"/>
                </a:moveTo>
                <a:lnTo>
                  <a:pt x="16714740" y="0"/>
                </a:lnTo>
                <a:lnTo>
                  <a:pt x="16714740" y="10818996"/>
                </a:lnTo>
                <a:lnTo>
                  <a:pt x="0" y="10818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265998"/>
            <a:ext cx="16714740" cy="10818995"/>
          </a:xfrm>
          <a:custGeom>
            <a:avLst/>
            <a:gdLst/>
            <a:ahLst/>
            <a:cxnLst/>
            <a:rect r="r" b="b" t="t" l="l"/>
            <a:pathLst>
              <a:path h="10818995" w="16714740">
                <a:moveTo>
                  <a:pt x="0" y="0"/>
                </a:moveTo>
                <a:lnTo>
                  <a:pt x="16714740" y="0"/>
                </a:lnTo>
                <a:lnTo>
                  <a:pt x="16714740" y="10818996"/>
                </a:lnTo>
                <a:lnTo>
                  <a:pt x="0" y="10818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57770"/>
            <a:ext cx="16230600" cy="270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7"/>
              </a:lnSpc>
            </a:pPr>
            <a:r>
              <a:rPr lang="en-US" sz="10965" spc="-515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INNOVATION &amp; UNIQUE VALUE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8590" y="3727205"/>
            <a:ext cx="12502525" cy="309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sz="3786" spc="-1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AI-powered handwritten prescription extraction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sz="3786" spc="-1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Consistent, auditable rule-based evaluation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sz="3786" spc="-1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Brand-to-generic drug mapping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sz="3786" spc="-1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Local resistance data integration</a:t>
            </a:r>
          </a:p>
          <a:p>
            <a:pPr algn="l" marL="817511" indent="-408755" lvl="1">
              <a:lnSpc>
                <a:spcPts val="4884"/>
              </a:lnSpc>
              <a:buFont typeface="Arial"/>
              <a:buChar char="•"/>
            </a:pPr>
            <a:r>
              <a:rPr lang="en-US" sz="3786" spc="-1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Human-controlled clinical decisions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46361" y="8003025"/>
            <a:ext cx="16714740" cy="10818995"/>
          </a:xfrm>
          <a:custGeom>
            <a:avLst/>
            <a:gdLst/>
            <a:ahLst/>
            <a:cxnLst/>
            <a:rect r="r" b="b" t="t" l="l"/>
            <a:pathLst>
              <a:path h="10818995" w="16714740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12489" y="6994895"/>
            <a:ext cx="12502525" cy="123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4"/>
              </a:lnSpc>
            </a:pPr>
            <a:r>
              <a:rPr lang="en-US" sz="3786" spc="-177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USP : </a:t>
            </a:r>
            <a:r>
              <a:rPr lang="en-US" sz="3786" spc="-1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Explainable AI + deterministic rules + pharmacist oversight.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2489" y="8189865"/>
            <a:ext cx="13961659" cy="24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4"/>
              </a:lnSpc>
            </a:pPr>
            <a:r>
              <a:rPr lang="en-US" sz="3786" spc="-177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Decoupled Architecture : </a:t>
            </a:r>
            <a:r>
              <a:rPr lang="en-US" sz="3786" spc="-1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Clinical rules and drug mappings are maintained separately in JSON files, allowing authorized updates without requiring frontend redesign.</a:t>
            </a:r>
          </a:p>
          <a:p>
            <a:pPr algn="l">
              <a:lnSpc>
                <a:spcPts val="488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656" y="504742"/>
            <a:ext cx="15479694" cy="10019584"/>
          </a:xfrm>
          <a:custGeom>
            <a:avLst/>
            <a:gdLst/>
            <a:ahLst/>
            <a:cxnLst/>
            <a:rect r="r" b="b" t="t" l="l"/>
            <a:pathLst>
              <a:path h="10019584" w="15479694">
                <a:moveTo>
                  <a:pt x="0" y="0"/>
                </a:moveTo>
                <a:lnTo>
                  <a:pt x="15479694" y="0"/>
                </a:lnTo>
                <a:lnTo>
                  <a:pt x="15479694" y="10019584"/>
                </a:lnTo>
                <a:lnTo>
                  <a:pt x="0" y="10019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656" y="1276350"/>
            <a:ext cx="10137663" cy="12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2"/>
              </a:lnSpc>
            </a:pPr>
            <a:r>
              <a:rPr lang="en-US" sz="9800" spc="-460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HOW IT 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7785" y="2791096"/>
            <a:ext cx="9785672" cy="665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4"/>
              </a:lnSpc>
            </a:pPr>
            <a:r>
              <a:rPr lang="en-US" sz="5901" spc="-2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1. Prescription Upload</a:t>
            </a:r>
          </a:p>
          <a:p>
            <a:pPr algn="l">
              <a:lnSpc>
                <a:spcPts val="7554"/>
              </a:lnSpc>
            </a:pPr>
            <a:r>
              <a:rPr lang="en-US" sz="5901" spc="-2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2. AI Extraction</a:t>
            </a:r>
          </a:p>
          <a:p>
            <a:pPr algn="l">
              <a:lnSpc>
                <a:spcPts val="7554"/>
              </a:lnSpc>
            </a:pPr>
            <a:r>
              <a:rPr lang="en-US" sz="5901" spc="-2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3. Drug Normalization</a:t>
            </a:r>
          </a:p>
          <a:p>
            <a:pPr algn="l">
              <a:lnSpc>
                <a:spcPts val="7554"/>
              </a:lnSpc>
            </a:pPr>
            <a:r>
              <a:rPr lang="en-US" sz="5901" spc="-2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4. Clinical Evaluation</a:t>
            </a:r>
          </a:p>
          <a:p>
            <a:pPr algn="l">
              <a:lnSpc>
                <a:spcPts val="7554"/>
              </a:lnSpc>
            </a:pPr>
            <a:r>
              <a:rPr lang="en-US" sz="5901" spc="-2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5. Benchmark Comparison</a:t>
            </a:r>
          </a:p>
          <a:p>
            <a:pPr algn="l">
              <a:lnSpc>
                <a:spcPts val="7554"/>
              </a:lnSpc>
            </a:pPr>
            <a:r>
              <a:rPr lang="en-US" sz="5901" spc="-2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6. Findings Dashboard</a:t>
            </a:r>
          </a:p>
          <a:p>
            <a:pPr algn="l">
              <a:lnSpc>
                <a:spcPts val="7554"/>
              </a:lnSpc>
            </a:pPr>
            <a:r>
              <a:rPr lang="en-US" sz="5901" spc="-27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7. Pharmacist Decision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98290"/>
            <a:ext cx="16124419" cy="15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8"/>
              </a:lnSpc>
            </a:pPr>
            <a:r>
              <a:rPr lang="en-US" sz="12200" spc="-57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TECHNOLOGY STACK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63388"/>
            <a:ext cx="14664733" cy="698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3467" spc="-162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Frontend : Next.js, React, Tailwind CSS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467" spc="-162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Backend : Python, FastAPI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467" spc="-162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AI :  Google Gemini Vision for OCR and extraction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467" spc="-162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Knowledge Base : JSON files (brands.json, benchmarks.json)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467" spc="-162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Clinical Logic : Deterministic Python rules engine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467" spc="-162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Architecture : LLM for perception → Rules for evaluation → Human for decisions.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467" spc="-162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CSV Bulk Upload — Zero AI Token Cost: Enables bulk prescription-data intake without per-record AI inference costs when processing uses the local rules engine only.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1336783" y="1686970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3327" y="-1437860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227" y="905858"/>
            <a:ext cx="15919877" cy="2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5"/>
              </a:lnSpc>
            </a:pPr>
            <a:r>
              <a:rPr lang="en-US" sz="11165" spc="-524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SYSTEM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2516" y="4119309"/>
            <a:ext cx="13317777" cy="332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68"/>
              </a:lnSpc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Pharmacist → Next.js Stewardship Dashboard → FastAPI Backend → Gemini Vision OCR → Structured Prescription Data → Brand-to-Generic Mapping → Deterministic Rules Engine → WHO AWaRe + Clinical Rules + Resistance Benchmarks → Findings and Recommendations → Pharmacist Approval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1336783" y="1686970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3327" y="-1437860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1963" y="843767"/>
            <a:ext cx="17104073" cy="142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5"/>
              </a:lnSpc>
            </a:pPr>
            <a:r>
              <a:rPr lang="en-US" sz="11165" spc="-524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TECHNICAL FEASIBILITY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9104" y="2188221"/>
            <a:ext cx="13317777" cy="464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Implemented Components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Pharmacist dashboard and prescription upload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Gemini Vision extraction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Brand-to-generic mapping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JSON-based knowledge base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Deterministic rules engine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Risk-prioritized findings and approval actions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5112" y="7000561"/>
            <a:ext cx="13317777" cy="131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8"/>
              </a:lnSpc>
            </a:pPr>
            <a:r>
              <a:rPr lang="en-US" sz="3763" spc="-176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Challenge :</a:t>
            </a: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Ambiguous handwriting.</a:t>
            </a:r>
          </a:p>
          <a:p>
            <a:pPr algn="l">
              <a:lnSpc>
                <a:spcPts val="5268"/>
              </a:lnSpc>
            </a:pPr>
            <a:r>
              <a:rPr lang="en-US" sz="3763" spc="-176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Safety Measure : </a:t>
            </a: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Verify extracted details before clinical action.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5112" y="8476596"/>
            <a:ext cx="14373320" cy="198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8"/>
              </a:lnSpc>
            </a:pPr>
            <a:r>
              <a:rPr lang="en-US" sz="3763" spc="-176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Fallback/Mitigation Strategy : </a:t>
            </a: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 OCR fails on illegible handwriting, the system safely falls back to our manual 'Pharmacist Verify' text override.</a:t>
            </a:r>
          </a:p>
          <a:p>
            <a:pPr algn="l">
              <a:lnSpc>
                <a:spcPts val="526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1336783" y="1686970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3327" y="-1437860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1963" y="843767"/>
            <a:ext cx="17104073" cy="142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5"/>
              </a:lnSpc>
            </a:pPr>
            <a:r>
              <a:rPr lang="en-US" sz="11165" spc="-524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FUTURE 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4331" y="2560766"/>
            <a:ext cx="10120101" cy="398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Hospital EHR integration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Validated, hospital-specific antibiograms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Multilingual OCR and confidence scoring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Stronger clinical validation and governance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Stewardship analytics and trend monitoring</a:t>
            </a:r>
          </a:p>
          <a:p>
            <a:pPr algn="l" marL="812509" indent="-406254" lvl="1">
              <a:lnSpc>
                <a:spcPts val="5268"/>
              </a:lnSpc>
              <a:buFont typeface="Arial"/>
              <a:buChar char="•"/>
            </a:pP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Multi-hospital deployment with local rules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5112" y="6837151"/>
            <a:ext cx="13317777" cy="131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8"/>
              </a:lnSpc>
            </a:pPr>
            <a:r>
              <a:rPr lang="en-US" sz="3763" spc="-176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Vision : </a:t>
            </a: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hospital-wide antimicrobial stewardship intelligence platform.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5112" y="8238471"/>
            <a:ext cx="13317777" cy="264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8"/>
              </a:lnSpc>
            </a:pPr>
            <a:r>
              <a:rPr lang="en-US" sz="3763" spc="-176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Two-Step Token-Saver Pipeline : </a:t>
            </a:r>
            <a:r>
              <a:rPr lang="en-US" sz="3763" spc="-176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Tesseract OCR + Text LLM to target up to 90% lower API costs by processing readable text instead of sending every prescription image to a vision model.</a:t>
            </a:r>
          </a:p>
          <a:p>
            <a:pPr algn="l">
              <a:lnSpc>
                <a:spcPts val="526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4955" y="456485"/>
            <a:ext cx="9497952" cy="142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5"/>
              </a:lnSpc>
            </a:pPr>
            <a:r>
              <a:rPr lang="en-US" sz="11165" spc="-524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Key Benefits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3691" y="2937314"/>
            <a:ext cx="15830948" cy="501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5999" spc="-28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Faster Review : Reduces repetitive screening.</a:t>
            </a:r>
          </a:p>
          <a:p>
            <a:pPr algn="l">
              <a:lnSpc>
                <a:spcPts val="5639"/>
              </a:lnSpc>
            </a:pPr>
            <a:r>
              <a:rPr lang="en-US" sz="5999" spc="-28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Safer Decisions : Flags potential stewardship risks.</a:t>
            </a:r>
          </a:p>
          <a:p>
            <a:pPr algn="l">
              <a:lnSpc>
                <a:spcPts val="5639"/>
              </a:lnSpc>
            </a:pPr>
            <a:r>
              <a:rPr lang="en-US" sz="5999" spc="-28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Explainable AI : Makes findings auditable and reviewable.</a:t>
            </a:r>
          </a:p>
          <a:p>
            <a:pPr algn="l">
              <a:lnSpc>
                <a:spcPts val="5639"/>
              </a:lnSpc>
            </a:pPr>
            <a:r>
              <a:rPr lang="en-US" sz="5999" spc="-28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Key Takeaway : AI extracts. Rules evaluate. Pharmacists decide.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0354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94132" y="8893017"/>
            <a:ext cx="1941787" cy="121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4932" spc="-231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4955" y="456485"/>
            <a:ext cx="9497952" cy="142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5"/>
              </a:lnSpc>
            </a:pPr>
            <a:r>
              <a:rPr lang="en-US" sz="11165" spc="-524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4955" y="2010490"/>
            <a:ext cx="16794345" cy="205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640" spc="-26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attend.to helps pharmacists review antibiotic prescriptions efficiently with explainable, human-controlled decisions.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4955" y="4435811"/>
            <a:ext cx="14484125" cy="526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4932" spc="-231" b="true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TEAM</a:t>
            </a:r>
          </a:p>
          <a:p>
            <a:pPr algn="l">
              <a:lnSpc>
                <a:spcPts val="4636"/>
              </a:lnSpc>
            </a:pP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1.</a:t>
            </a: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Fremil</a:t>
            </a:r>
          </a:p>
          <a:p>
            <a:pPr algn="l">
              <a:lnSpc>
                <a:spcPts val="4636"/>
              </a:lnSpc>
            </a:pP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Lead Architect &amp; Frontend</a:t>
            </a:r>
          </a:p>
          <a:p>
            <a:pPr algn="l">
              <a:lnSpc>
                <a:spcPts val="4636"/>
              </a:lnSpc>
            </a:pP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2.</a:t>
            </a: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Shivani</a:t>
            </a:r>
          </a:p>
          <a:p>
            <a:pPr algn="l">
              <a:lnSpc>
                <a:spcPts val="4636"/>
              </a:lnSpc>
            </a:pP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Frontend Lead — UI &amp; Components</a:t>
            </a:r>
          </a:p>
          <a:p>
            <a:pPr algn="l">
              <a:lnSpc>
                <a:spcPts val="4636"/>
              </a:lnSpc>
            </a:pP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3.</a:t>
            </a: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Vaishnavi</a:t>
            </a:r>
          </a:p>
          <a:p>
            <a:pPr algn="l">
              <a:lnSpc>
                <a:spcPts val="4636"/>
              </a:lnSpc>
            </a:pP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Backend &amp; Data Engineer — FastAPI &amp; Rules</a:t>
            </a:r>
          </a:p>
          <a:p>
            <a:pPr algn="l">
              <a:lnSpc>
                <a:spcPts val="4636"/>
              </a:lnSpc>
            </a:pP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4.</a:t>
            </a: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Nakshatra</a:t>
            </a:r>
          </a:p>
          <a:p>
            <a:pPr algn="l">
              <a:lnSpc>
                <a:spcPts val="4636"/>
              </a:lnSpc>
            </a:pP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4932" spc="-231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QA &amp; Clinical Assets — Demo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DAHXdBuRmdk</dc:identifier>
  <dcterms:modified xsi:type="dcterms:W3CDTF">2011-08-01T06:04:30Z</dcterms:modified>
  <cp:revision>1</cp:revision>
  <dc:title>Antibiotic Steward Copilot</dc:title>
</cp:coreProperties>
</file>